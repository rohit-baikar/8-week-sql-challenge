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7"/>
  </p:notesMasterIdLst>
  <p:sldIdLst>
    <p:sldId id="256" r:id="rId2"/>
    <p:sldId id="258" r:id="rId3"/>
    <p:sldId id="259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EF636-5BA9-4F3B-AD45-E772F762F895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E20E7-B1E2-4DB5-A6AB-DD30F6E22E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47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E20E7-B1E2-4DB5-A6AB-DD30F6E22E3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953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ED3E-F441-4CF6-E01D-FF6C6A3F2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052FF-B99C-BF04-8622-4D501BB5B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A04BC-5D9D-FEA3-85F5-32574008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4EF03-994B-5411-2B9A-593FC32B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60C6-C1D5-3D27-90CA-CC03F268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10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8EBF0-C685-A03A-81C0-8CC2A7BE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405C1-F2D0-1C9F-CE23-F70F547C1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1152D-57CD-76BC-39FA-8C624D53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39F0C-3A20-1190-D89D-835DE03FB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4C339-932C-C0C3-6DB9-98D1D054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53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2986-8512-F533-8C12-519028957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350B2-4D57-AEDD-17B9-C9C2FAA4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6F0B6-03EE-C913-C503-09E45059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F807A-6E10-9CD6-D18D-B18115A27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BB065-200D-BB0F-9F61-B49127A3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821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BA9F-E773-4208-A66C-C1843637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0208-5224-0C01-439F-B1ABF44EA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80D89-06BC-7C5D-21DD-C72203000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AA6C4-CFAB-F6FE-552C-AF9D129A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6AEB9-53EB-74DB-6057-1EDE13AA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CA9C7-1F77-31A3-E99D-A81464DB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79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89C47-A031-B524-0186-0DD71B25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6E1C5-BBCF-75DF-8BE9-FEA80ABBA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4E5B6-21FB-F9CD-A02B-0B49692C5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45B60-0D56-FC27-48AB-7BCE6B791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C29F8-28B7-89E9-77B9-741E8F8A0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96D9F-6244-E66F-7384-250BA5FC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B0D75-92B6-A86E-835E-490B10BE3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BC1878-D215-6B35-00A7-929CF1DB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239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F38F-AAC4-E0AC-D84A-794746E6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F523C-1A18-235F-4EAD-DE926DC8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F264A-EA73-5CDD-75D7-4E66752F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F849-5BC5-1B0C-44CE-E75800E04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6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C60A9-ED02-5F9B-631F-4AEBC2EE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15EBC-160A-C053-917A-5AC9BF26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392F0-CF72-8ECD-3A30-CFD9E53B9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76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1858-B714-166E-6B10-2ECA9875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C5478-0CFD-0598-0168-A49146C27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9A465-8276-6E27-5481-7BCBD9265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B48CF-3748-29E1-6E89-1E0600FD0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987F8-6BC1-5EF0-5DFB-2F0C02B2F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2574B-6BEE-27F2-C55B-7F69C4BA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77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77F42-EA1D-24AC-58A4-252C1959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A58F0-12CC-394F-3DBD-FB7883D81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68560-FB25-2315-C431-17099BD80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90235-9DD1-DE7B-E05E-AAF22381C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1B904-EE38-8B66-9632-70E4A1E72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9B8B9-E49A-D732-A0C5-1C805061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844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B879-6ABA-C078-5AE9-3B7173EC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3BDBF-8564-D1A1-1999-5DC5B6615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1560E-8DB7-2BA2-B473-46A05A877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542BB-BC24-5EB8-B296-A181CA674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B008B-1893-97AC-F4D7-D0D9CBE1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55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0867A2-9AC0-9731-30B2-433D3A6E7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2CCDC-A971-C016-CE94-0650F966D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63C7D-1933-E3D0-94DC-6B0CABF3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38A32-8718-E2F9-7E8F-2BAAF774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31247-EDC1-E9D5-5C82-EBF0E8A9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88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AA932-1678-DFAA-75E2-0126A6BA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93CE9-DD84-755F-D33A-E0DC7495D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93656-BF42-AFD1-6E6B-E5CDF8ED8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C2C8C-7222-46DA-AE57-22FF7DB19A5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96115-C4FF-80B5-2A34-74F6FD92E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D6E54-EDF6-E3E3-6D43-47FE2BACC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88C64-2D6A-4157-B462-798FC5773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93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ithub.com/rohit-baika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ohit-baikar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rohit-baikar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rohit-baikar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hit-baikar/8-week-sql-challenge/blob/main/Case-Study-1-Solutions.txt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ohit-baikar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666F09-CC35-A0C4-B645-DAB74F96D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04"/>
          <a:stretch>
            <a:fillRect/>
          </a:stretch>
        </p:blipFill>
        <p:spPr>
          <a:xfrm>
            <a:off x="1218969" y="883117"/>
            <a:ext cx="9709272" cy="537007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39162CB-A78C-6E4C-ECBA-0BE965760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494" y="134152"/>
            <a:ext cx="10154223" cy="79999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Danny’s Diner – SQL Case Study (8 Week SQL Challenge)</a:t>
            </a:r>
            <a:br>
              <a:rPr lang="en-US" sz="28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</a:br>
            <a:r>
              <a:rPr lang="en-US" sz="1800" dirty="0">
                <a:latin typeface="Arial Rounded MT Bold" panose="020F0704030504030204" pitchFamily="34" charset="0"/>
              </a:rPr>
              <a:t>Turning raw data into business insights using SQL</a:t>
            </a:r>
            <a:endParaRPr lang="en-IN" sz="2800" dirty="0">
              <a:latin typeface="Arial Rounded MT Bold" panose="020F07040305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D30D40-9912-39CB-FFBD-A7E449311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717" y="60412"/>
            <a:ext cx="1041283" cy="10412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8852F7-A6CE-B6C2-A156-4402F1838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" y="121452"/>
            <a:ext cx="812698" cy="8126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2BA145-7AE8-CCFB-3D27-2B65CD5689A5}"/>
              </a:ext>
            </a:extLst>
          </p:cNvPr>
          <p:cNvSpPr txBox="1"/>
          <p:nvPr/>
        </p:nvSpPr>
        <p:spPr>
          <a:xfrm>
            <a:off x="10768743" y="6253196"/>
            <a:ext cx="14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  <a:t>Rohit Baikar </a:t>
            </a:r>
            <a:b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1400" b="1" dirty="0">
                <a:solidFill>
                  <a:srgbClr val="002060"/>
                </a:solidFill>
                <a:latin typeface="Arial Black" panose="020B0A04020102020204" pitchFamily="34" charset="0"/>
              </a:rPr>
              <a:t>Data Analyst</a:t>
            </a:r>
            <a:endParaRPr lang="en-IN" sz="1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B20EDA-D6BF-3384-BB48-0E594BCB85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32" y="6334250"/>
            <a:ext cx="361111" cy="3611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8359CC-4002-30E0-DFB7-1D6036F2F3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" y="6334250"/>
            <a:ext cx="477054" cy="4770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43B10A-D45C-59A0-35DC-8CED894BCC66}"/>
              </a:ext>
            </a:extLst>
          </p:cNvPr>
          <p:cNvSpPr txBox="1"/>
          <p:nvPr/>
        </p:nvSpPr>
        <p:spPr>
          <a:xfrm>
            <a:off x="507118" y="6388111"/>
            <a:ext cx="326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https://github.com/rohit-baikar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298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98EA-8ADB-C2ED-AEFE-252046E0A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25" y="365125"/>
            <a:ext cx="10515600" cy="80542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Data Model(</a:t>
            </a:r>
            <a:r>
              <a:rPr lang="en-IN" sz="4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Entity Relationship Diagram</a:t>
            </a:r>
            <a:r>
              <a:rPr lang="en-US" sz="4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)</a:t>
            </a:r>
            <a:endParaRPr lang="en-IN" sz="4000" b="1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51B84B-1B40-6BDD-5B79-E300E6C40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940" y="1351111"/>
            <a:ext cx="9714119" cy="51417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7121A-6DB2-80A8-22AC-CB6B5EAA6183}"/>
              </a:ext>
            </a:extLst>
          </p:cNvPr>
          <p:cNvSpPr txBox="1"/>
          <p:nvPr/>
        </p:nvSpPr>
        <p:spPr>
          <a:xfrm>
            <a:off x="10768743" y="6253196"/>
            <a:ext cx="14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  <a:t>Rohit Baikar </a:t>
            </a:r>
            <a:b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1400" b="1" dirty="0">
                <a:solidFill>
                  <a:srgbClr val="002060"/>
                </a:solidFill>
                <a:latin typeface="Arial Black" panose="020B0A04020102020204" pitchFamily="34" charset="0"/>
              </a:rPr>
              <a:t>Data Analyst</a:t>
            </a:r>
            <a:endParaRPr lang="en-IN" sz="1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A050D3-DCE0-D225-D426-E47F27F81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841" y="53253"/>
            <a:ext cx="1230878" cy="12308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47F042-F4D9-D001-F121-21D427B4E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32" y="6334250"/>
            <a:ext cx="361111" cy="3611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843531-EE99-6CE4-7111-D0BAD2078D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" y="6334250"/>
            <a:ext cx="477054" cy="477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DB9B7E-9D25-B754-6114-29DAA376197F}"/>
              </a:ext>
            </a:extLst>
          </p:cNvPr>
          <p:cNvSpPr txBox="1"/>
          <p:nvPr/>
        </p:nvSpPr>
        <p:spPr>
          <a:xfrm>
            <a:off x="507118" y="6388111"/>
            <a:ext cx="326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https://github.com/rohit-baikar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32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4354-5995-4B1E-C3C8-93ABEDB7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95"/>
            <a:ext cx="10515600" cy="79999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Sample Data</a:t>
            </a:r>
            <a:endParaRPr lang="en-IN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509597-2258-E996-44C1-C267F75FC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917746"/>
              </p:ext>
            </p:extLst>
          </p:nvPr>
        </p:nvGraphicFramePr>
        <p:xfrm>
          <a:off x="455025" y="855411"/>
          <a:ext cx="6152253" cy="543150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50751">
                  <a:extLst>
                    <a:ext uri="{9D8B030D-6E8A-4147-A177-3AD203B41FA5}">
                      <a16:colId xmlns:a16="http://schemas.microsoft.com/office/drawing/2014/main" val="4139316009"/>
                    </a:ext>
                  </a:extLst>
                </a:gridCol>
                <a:gridCol w="2050751">
                  <a:extLst>
                    <a:ext uri="{9D8B030D-6E8A-4147-A177-3AD203B41FA5}">
                      <a16:colId xmlns:a16="http://schemas.microsoft.com/office/drawing/2014/main" val="1504953644"/>
                    </a:ext>
                  </a:extLst>
                </a:gridCol>
                <a:gridCol w="2050751">
                  <a:extLst>
                    <a:ext uri="{9D8B030D-6E8A-4147-A177-3AD203B41FA5}">
                      <a16:colId xmlns:a16="http://schemas.microsoft.com/office/drawing/2014/main" val="4188914563"/>
                    </a:ext>
                  </a:extLst>
                </a:gridCol>
              </a:tblGrid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2000" b="1" dirty="0" err="1">
                          <a:solidFill>
                            <a:srgbClr val="002060"/>
                          </a:solidFill>
                          <a:effectLst/>
                        </a:rPr>
                        <a:t>customer_id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  <a:latin typeface="inherit"/>
                      </a:endParaRP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2000" b="1">
                          <a:solidFill>
                            <a:srgbClr val="002060"/>
                          </a:solidFill>
                          <a:effectLst/>
                        </a:rPr>
                        <a:t>order_date</a:t>
                      </a:r>
                      <a:endParaRPr lang="en-IN" sz="2000" b="1">
                        <a:solidFill>
                          <a:srgbClr val="002060"/>
                        </a:solidFill>
                        <a:effectLst/>
                        <a:latin typeface="inherit"/>
                      </a:endParaRP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2000" b="1" dirty="0" err="1">
                          <a:solidFill>
                            <a:srgbClr val="002060"/>
                          </a:solidFill>
                          <a:effectLst/>
                        </a:rPr>
                        <a:t>product_id</a:t>
                      </a:r>
                      <a:endParaRPr lang="en-IN" sz="2000" b="1" dirty="0">
                        <a:solidFill>
                          <a:srgbClr val="002060"/>
                        </a:solidFill>
                        <a:effectLst/>
                        <a:latin typeface="inherit"/>
                      </a:endParaRP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015849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A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2021-01-01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508356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A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2021-01-01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244807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A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2021-01-07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873063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A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 dirty="0">
                          <a:effectLst/>
                        </a:rPr>
                        <a:t>2021-01-10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597293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A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 dirty="0">
                          <a:effectLst/>
                        </a:rPr>
                        <a:t>2021-01-11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782935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A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 dirty="0">
                          <a:effectLst/>
                        </a:rPr>
                        <a:t>2021-01-11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923383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B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 dirty="0">
                          <a:effectLst/>
                        </a:rPr>
                        <a:t>2021-01-01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672383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B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 dirty="0">
                          <a:effectLst/>
                        </a:rPr>
                        <a:t>2021-01-02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 dirty="0">
                          <a:effectLst/>
                        </a:rPr>
                        <a:t>2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302247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B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2021-01-04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133420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B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2021-01-11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606050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B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2021-01-16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981679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B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2021-02-01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283990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C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2021-01-01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8128260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C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2021-01-01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318535"/>
                  </a:ext>
                </a:extLst>
              </a:tr>
              <a:tr h="3364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C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>
                          <a:effectLst/>
                        </a:rPr>
                        <a:t>2021-01-07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300" dirty="0">
                          <a:effectLst/>
                        </a:rPr>
                        <a:t>3</a:t>
                      </a:r>
                    </a:p>
                  </a:txBody>
                  <a:tcPr marL="86653" marR="86653" marT="39994" marB="39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98395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8B2DF3-A960-FB66-C2AD-4A9F398DB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331884"/>
              </p:ext>
            </p:extLst>
          </p:nvPr>
        </p:nvGraphicFramePr>
        <p:xfrm>
          <a:off x="6813755" y="1135626"/>
          <a:ext cx="4923219" cy="229337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641073">
                  <a:extLst>
                    <a:ext uri="{9D8B030D-6E8A-4147-A177-3AD203B41FA5}">
                      <a16:colId xmlns:a16="http://schemas.microsoft.com/office/drawing/2014/main" val="3776573893"/>
                    </a:ext>
                  </a:extLst>
                </a:gridCol>
                <a:gridCol w="1641073">
                  <a:extLst>
                    <a:ext uri="{9D8B030D-6E8A-4147-A177-3AD203B41FA5}">
                      <a16:colId xmlns:a16="http://schemas.microsoft.com/office/drawing/2014/main" val="3946396993"/>
                    </a:ext>
                  </a:extLst>
                </a:gridCol>
                <a:gridCol w="1641073">
                  <a:extLst>
                    <a:ext uri="{9D8B030D-6E8A-4147-A177-3AD203B41FA5}">
                      <a16:colId xmlns:a16="http://schemas.microsoft.com/office/drawing/2014/main" val="3254038190"/>
                    </a:ext>
                  </a:extLst>
                </a:gridCol>
              </a:tblGrid>
              <a:tr h="83134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b="1">
                          <a:solidFill>
                            <a:srgbClr val="002060"/>
                          </a:solidFill>
                          <a:effectLst/>
                        </a:rPr>
                        <a:t>product_id</a:t>
                      </a:r>
                      <a:endParaRPr lang="en-IN" b="1">
                        <a:solidFill>
                          <a:srgbClr val="002060"/>
                        </a:solidFill>
                        <a:effectLst/>
                        <a:latin typeface="inherit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b="1" dirty="0" err="1">
                          <a:solidFill>
                            <a:srgbClr val="002060"/>
                          </a:solidFill>
                          <a:effectLst/>
                        </a:rPr>
                        <a:t>product_name</a:t>
                      </a:r>
                      <a:endParaRPr lang="en-IN" b="1" dirty="0">
                        <a:solidFill>
                          <a:srgbClr val="002060"/>
                        </a:solidFill>
                        <a:effectLst/>
                        <a:latin typeface="inherit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effectLst/>
                        </a:rPr>
                        <a:t>price</a:t>
                      </a:r>
                      <a:endParaRPr lang="en-IN" b="1" dirty="0">
                        <a:solidFill>
                          <a:srgbClr val="002060"/>
                        </a:solidFill>
                        <a:effectLst/>
                        <a:latin typeface="inherit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971966"/>
                  </a:ext>
                </a:extLst>
              </a:tr>
              <a:tr h="487342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sushi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10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5868959"/>
                  </a:ext>
                </a:extLst>
              </a:tr>
              <a:tr h="487342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curry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15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040023"/>
                  </a:ext>
                </a:extLst>
              </a:tr>
              <a:tr h="487342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ramen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12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17843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7F611A-BDE5-4C62-BD67-08E244274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777939"/>
              </p:ext>
            </p:extLst>
          </p:nvPr>
        </p:nvGraphicFramePr>
        <p:xfrm>
          <a:off x="6855542" y="3728079"/>
          <a:ext cx="4881432" cy="141910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440716">
                  <a:extLst>
                    <a:ext uri="{9D8B030D-6E8A-4147-A177-3AD203B41FA5}">
                      <a16:colId xmlns:a16="http://schemas.microsoft.com/office/drawing/2014/main" val="3760082648"/>
                    </a:ext>
                  </a:extLst>
                </a:gridCol>
                <a:gridCol w="2440716">
                  <a:extLst>
                    <a:ext uri="{9D8B030D-6E8A-4147-A177-3AD203B41FA5}">
                      <a16:colId xmlns:a16="http://schemas.microsoft.com/office/drawing/2014/main" val="3372322591"/>
                    </a:ext>
                  </a:extLst>
                </a:gridCol>
              </a:tblGrid>
              <a:tr h="473036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b="1">
                          <a:solidFill>
                            <a:srgbClr val="002060"/>
                          </a:solidFill>
                          <a:effectLst/>
                        </a:rPr>
                        <a:t>customer_id</a:t>
                      </a:r>
                      <a:endParaRPr lang="en-IN" b="1">
                        <a:solidFill>
                          <a:srgbClr val="002060"/>
                        </a:solidFill>
                        <a:effectLst/>
                        <a:latin typeface="inherit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b="1" dirty="0" err="1">
                          <a:solidFill>
                            <a:srgbClr val="002060"/>
                          </a:solidFill>
                          <a:effectLst/>
                        </a:rPr>
                        <a:t>join_date</a:t>
                      </a:r>
                      <a:endParaRPr lang="en-IN" b="1" dirty="0">
                        <a:solidFill>
                          <a:srgbClr val="002060"/>
                        </a:solidFill>
                        <a:effectLst/>
                        <a:latin typeface="inherit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62428"/>
                  </a:ext>
                </a:extLst>
              </a:tr>
              <a:tr h="473036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2021-01-07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365599"/>
                  </a:ext>
                </a:extLst>
              </a:tr>
              <a:tr h="473036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B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2021-01-09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4999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51C9148-8D83-BE61-546F-9389629AA839}"/>
              </a:ext>
            </a:extLst>
          </p:cNvPr>
          <p:cNvSpPr txBox="1"/>
          <p:nvPr/>
        </p:nvSpPr>
        <p:spPr>
          <a:xfrm>
            <a:off x="10768743" y="6253196"/>
            <a:ext cx="14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  <a:t>Rohit Baikar </a:t>
            </a:r>
            <a:b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1400" b="1" dirty="0">
                <a:solidFill>
                  <a:srgbClr val="002060"/>
                </a:solidFill>
                <a:latin typeface="Arial Black" panose="020B0A04020102020204" pitchFamily="34" charset="0"/>
              </a:rPr>
              <a:t>Data Analyst</a:t>
            </a:r>
            <a:endParaRPr lang="en-IN" sz="1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310A6A-BA0A-E2B0-1668-D8B5350B3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745" y="-77333"/>
            <a:ext cx="1063419" cy="10634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8B1ED7-B879-F9A7-FF64-2AD1D55CC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32" y="6334250"/>
            <a:ext cx="361111" cy="3611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4BCF33-1EF1-4E46-F38F-1ABB365B3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" y="6334250"/>
            <a:ext cx="477054" cy="4770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4059F9-F25D-52A9-F57B-18C260BE52C9}"/>
              </a:ext>
            </a:extLst>
          </p:cNvPr>
          <p:cNvSpPr txBox="1"/>
          <p:nvPr/>
        </p:nvSpPr>
        <p:spPr>
          <a:xfrm>
            <a:off x="507118" y="6388111"/>
            <a:ext cx="326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https://github.com/rohit-baikar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54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13B6-A91A-C19F-3543-FD0D96CF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987"/>
            <a:ext cx="10515600" cy="87361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Solved Questions</a:t>
            </a:r>
            <a:endParaRPr lang="en-IN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2106-0410-E6B9-C4FF-10B88AD7C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97" y="1061367"/>
            <a:ext cx="11371006" cy="5394326"/>
          </a:xfrm>
        </p:spPr>
        <p:txBody>
          <a:bodyPr>
            <a:normAutofit/>
          </a:bodyPr>
          <a:lstStyle/>
          <a:p>
            <a:pPr fontAlgn="base"/>
            <a:r>
              <a:rPr lang="en-IN" sz="20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Customer Spending &amp; Visits</a:t>
            </a:r>
            <a:endParaRPr lang="en-US" sz="2000" dirty="0">
              <a:solidFill>
                <a:srgbClr val="002060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total amount each customer spent at the restaurant?</a:t>
            </a: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 many days has each customer visited the restaurant?</a:t>
            </a:r>
          </a:p>
          <a:p>
            <a:pPr fontAlgn="base"/>
            <a:r>
              <a:rPr lang="en-IN" sz="20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Customer Preferences &amp; Popular Items</a:t>
            </a:r>
            <a:endParaRPr lang="en-US" sz="2000" dirty="0">
              <a:solidFill>
                <a:srgbClr val="002060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was the first item from the menu purchased by each customer?</a:t>
            </a: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most purchased item on the menu and how many times was it purchased by all customers?</a:t>
            </a: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Which item was the most popular for each customer?</a:t>
            </a:r>
          </a:p>
          <a:p>
            <a:pPr fontAlgn="base"/>
            <a:r>
              <a:rPr lang="en-IN" sz="20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Membership Behaviour Analysis</a:t>
            </a:r>
            <a:endParaRPr lang="en-US" sz="2000" dirty="0">
              <a:solidFill>
                <a:srgbClr val="002060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Which item was purchased first by the customer after they became a member?</a:t>
            </a: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Which item was purchased just before the customer became a member?</a:t>
            </a: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total items and amount spent for each member before they became a member?</a:t>
            </a:r>
          </a:p>
          <a:p>
            <a:pPr fontAlgn="base"/>
            <a:r>
              <a:rPr lang="en-IN" sz="20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Loyalty Points &amp; Rewards</a:t>
            </a:r>
            <a:endParaRPr lang="en-US" sz="2000" dirty="0">
              <a:solidFill>
                <a:srgbClr val="002060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If each $1 spent equates to 10 points and sushi has a 2x points multiplier - how many points would each customer have?</a:t>
            </a: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the first week after a customer joins the program (including their join date) they earn 2x points on all items, not just sushi - how many points do customer A and B have at the end of January?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0326C-3A50-05FD-929D-FDAD6DC469FF}"/>
              </a:ext>
            </a:extLst>
          </p:cNvPr>
          <p:cNvSpPr txBox="1"/>
          <p:nvPr/>
        </p:nvSpPr>
        <p:spPr>
          <a:xfrm>
            <a:off x="10768743" y="6253196"/>
            <a:ext cx="14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  <a:t>Rohit Baikar </a:t>
            </a:r>
            <a:b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1400" b="1" dirty="0">
                <a:solidFill>
                  <a:srgbClr val="002060"/>
                </a:solidFill>
                <a:latin typeface="Arial Black" panose="020B0A04020102020204" pitchFamily="34" charset="0"/>
              </a:rPr>
              <a:t>Data Analyst</a:t>
            </a:r>
            <a:endParaRPr lang="en-IN" sz="1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6A1511-8A00-CC78-DB84-A271F8CC8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335" y="31652"/>
            <a:ext cx="1046291" cy="1046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C2D03F-D489-9A79-4894-4616AFD4B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827" y="31652"/>
            <a:ext cx="1046290" cy="10462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C78464-E274-C930-94A7-6032C466E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32" y="6334250"/>
            <a:ext cx="361111" cy="361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7C2E68-D12D-EBF5-D919-D0D8D1757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" y="6334250"/>
            <a:ext cx="477054" cy="4770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286D3D-06D7-BCD8-B7E4-32754E1B53F4}"/>
              </a:ext>
            </a:extLst>
          </p:cNvPr>
          <p:cNvSpPr txBox="1"/>
          <p:nvPr/>
        </p:nvSpPr>
        <p:spPr>
          <a:xfrm>
            <a:off x="507118" y="6388111"/>
            <a:ext cx="326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https://github.com/rohit-baikar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62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C795-E4DE-45C6-E81E-1C822D02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045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Arial Rounded MT Bold" panose="020F0704030504030204" pitchFamily="34" charset="0"/>
              </a:rPr>
              <a:t>Answers</a:t>
            </a:r>
            <a:endParaRPr lang="en-IN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324137-BEE3-529C-5F13-F1C8FBB709DC}"/>
              </a:ext>
            </a:extLst>
          </p:cNvPr>
          <p:cNvSpPr txBox="1"/>
          <p:nvPr/>
        </p:nvSpPr>
        <p:spPr>
          <a:xfrm>
            <a:off x="1130587" y="3763750"/>
            <a:ext cx="11164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  <a:hlinkClick r:id="rId3"/>
              </a:rPr>
              <a:t>https://github.com/rohit-baikar/8-week-sql-challenge/blob/main/Case-Study-1-Solutions.txt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EA4F47-4DF5-21CC-6A83-A7CEF8AF0DF0}"/>
              </a:ext>
            </a:extLst>
          </p:cNvPr>
          <p:cNvSpPr txBox="1"/>
          <p:nvPr/>
        </p:nvSpPr>
        <p:spPr>
          <a:xfrm>
            <a:off x="1130587" y="2195025"/>
            <a:ext cx="10621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hlinkClick r:id="rId3"/>
              </a:rPr>
              <a:t>https://github.com/rohit-baikar/8-week-sql-challenge/blob/main/Case-Study-1</a:t>
            </a:r>
            <a:endParaRPr lang="en-IN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C8B86F-213F-1EBD-7B08-F94B0689D60C}"/>
              </a:ext>
            </a:extLst>
          </p:cNvPr>
          <p:cNvSpPr txBox="1"/>
          <p:nvPr/>
        </p:nvSpPr>
        <p:spPr>
          <a:xfrm>
            <a:off x="513735" y="1569256"/>
            <a:ext cx="64192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Business Problem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48C64D-4D2B-2993-C2B1-115C8DF8BCBF}"/>
              </a:ext>
            </a:extLst>
          </p:cNvPr>
          <p:cNvSpPr txBox="1"/>
          <p:nvPr/>
        </p:nvSpPr>
        <p:spPr>
          <a:xfrm>
            <a:off x="513735" y="3154808"/>
            <a:ext cx="64192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Answers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4242BB-44BD-78C8-8485-7A275C4B5237}"/>
              </a:ext>
            </a:extLst>
          </p:cNvPr>
          <p:cNvSpPr txBox="1"/>
          <p:nvPr/>
        </p:nvSpPr>
        <p:spPr>
          <a:xfrm>
            <a:off x="10768743" y="6253196"/>
            <a:ext cx="14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  <a:t>Rohit Baikar </a:t>
            </a:r>
            <a:br>
              <a:rPr lang="en-US" sz="14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1400" b="1" dirty="0">
                <a:solidFill>
                  <a:srgbClr val="002060"/>
                </a:solidFill>
                <a:latin typeface="Arial Black" panose="020B0A04020102020204" pitchFamily="34" charset="0"/>
              </a:rPr>
              <a:t>Data Analyst</a:t>
            </a:r>
            <a:endParaRPr lang="en-IN" sz="1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DF6143-043E-9B10-396A-C05CFBAB60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32" y="6334250"/>
            <a:ext cx="361111" cy="3611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5E402DF-F07F-40B3-9CB3-63147EF3EA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11" y="2127501"/>
            <a:ext cx="584776" cy="5847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139C7F8-8B3B-DBBC-0E4A-9C30745AB9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11" y="3763750"/>
            <a:ext cx="584776" cy="5847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ED6C065-8370-C53A-DEFE-34CC4A2A83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" y="6334250"/>
            <a:ext cx="477054" cy="47705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DD0EEBA-C265-D44A-CEB6-CFD5C8AEAF56}"/>
              </a:ext>
            </a:extLst>
          </p:cNvPr>
          <p:cNvSpPr txBox="1"/>
          <p:nvPr/>
        </p:nvSpPr>
        <p:spPr>
          <a:xfrm>
            <a:off x="507118" y="6388111"/>
            <a:ext cx="326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https://github.com/rohit-baikar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6424678-DCC0-AE95-8D3A-AD4D73ECF0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072" y="188106"/>
            <a:ext cx="927117" cy="92711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704D100-AD57-2866-7E89-9073A6D620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813" y="188106"/>
            <a:ext cx="927117" cy="92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48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1132</TotalTime>
  <Words>401</Words>
  <Application>Microsoft Office PowerPoint</Application>
  <PresentationFormat>Widescreen</PresentationFormat>
  <Paragraphs>100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Arial Rounded MT Bold</vt:lpstr>
      <vt:lpstr>Calibri</vt:lpstr>
      <vt:lpstr>Calibri Light</vt:lpstr>
      <vt:lpstr>inherit</vt:lpstr>
      <vt:lpstr>Office Theme</vt:lpstr>
      <vt:lpstr>Danny’s Diner – SQL Case Study (8 Week SQL Challenge) Turning raw data into business insights using SQL</vt:lpstr>
      <vt:lpstr>Data Model(Entity Relationship Diagram)</vt:lpstr>
      <vt:lpstr>Sample Data</vt:lpstr>
      <vt:lpstr>Solved Questions</vt:lpstr>
      <vt:lpstr>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Baikar</dc:creator>
  <cp:lastModifiedBy>Rohit Baikar</cp:lastModifiedBy>
  <cp:revision>3</cp:revision>
  <dcterms:created xsi:type="dcterms:W3CDTF">2026-01-17T17:50:26Z</dcterms:created>
  <dcterms:modified xsi:type="dcterms:W3CDTF">2026-01-18T12:42:35Z</dcterms:modified>
</cp:coreProperties>
</file>